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9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914400" y="5074920"/>
            <a:ext cx="13990320" cy="1737360"/>
          </a:xfrm>
          <a:prstGeom prst="wave">
            <a:avLst/>
          </a:prstGeom>
          <a:solidFill>
            <a:srgbClr val="084C61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0">
            <a:off x="-1188720" y="5440680"/>
            <a:ext cx="14538960" cy="1737360"/>
          </a:xfrm>
          <a:prstGeom prst="wave">
            <a:avLst/>
          </a:prstGeom>
          <a:solidFill>
            <a:srgbClr val="177E8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0800000">
            <a:off x="-1463040" y="5806440"/>
            <a:ext cx="15087600" cy="1737360"/>
          </a:xfrm>
          <a:prstGeom prst="wave">
            <a:avLst/>
          </a:prstGeom>
          <a:solidFill>
            <a:srgbClr val="5FA8C4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1051560" cy="1051560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flood_ppt/icons/cloud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538" y="650138"/>
            <a:ext cx="757123" cy="7571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6692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40080" y="56692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ARTIFICIAL INTELLIGENCE &amp; DATA ANALYTICS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40080" y="1078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&amp; Disaster Management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36192"/>
            <a:ext cx="10515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Urban Flood Risk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&amp; Early-Warning System for Bengaluru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49300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Bengaluru's existing rain-gauge, weather-station and stormwater sensor data into ward-level, plain-language flood warnings — before water levels turn critical.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6634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084C61">
              <a:alpha val="82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41248" y="4928616"/>
            <a:ext cx="896112" cy="896112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flood_ppt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5071994"/>
            <a:ext cx="609356" cy="6093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83664" y="4901184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Dakshraj Singh Chandawat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883664" y="54864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2411021240050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261104" y="46634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084C61">
              <a:alpha val="82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462272" y="4928616"/>
            <a:ext cx="896112" cy="896112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flood_ppt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50" y="5071994"/>
            <a:ext cx="609356" cy="6093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504688" y="4901184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Ramesh Tandale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504688" y="54864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A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: 2411021240006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882128" y="46634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084C61">
              <a:alpha val="82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8083296" y="4928616"/>
            <a:ext cx="896112" cy="896112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flood_ppt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674" y="5071994"/>
            <a:ext cx="609356" cy="6093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25712" y="4901184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Pebam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125712" y="54864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A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: 2411021240018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has the sensors — but not the foresight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flood_ppt/icons/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1772107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002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natural drainage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659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unplanned urbanization has encroached on and concretized lakes and stormwater channels, while impervious surfaces keep expanding across the city.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18104"/>
            <a:ext cx="658368" cy="658368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flood_ppt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216859"/>
            <a:ext cx="460858" cy="46085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30449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after the fact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41071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KSNDMC's rain gauges, weather stations and drain water-level sensors are used almost only for reactive rescue coordination — once flooding has already begun.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562856"/>
            <a:ext cx="658368" cy="658368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flood_ppt/icons/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466161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4897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predictive platform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85546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citizen- or civic-authority-facing system forecasts which areas will flood, how severely, or within what time window — so warnings and pump/barricade deployment stay manual and delayed.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571232" y="160020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7571232" y="175564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5800" dirty="0"/>
          </a:p>
        </p:txBody>
      </p:sp>
      <p:sp>
        <p:nvSpPr>
          <p:cNvPr id="18" name="Text 13"/>
          <p:cNvSpPr txBox="1"/>
          <p:nvPr/>
        </p:nvSpPr>
        <p:spPr>
          <a:xfrm>
            <a:off x="7891272" y="26060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flood-prone zones officially identified by BBMP, categorised by severity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571232" y="365760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845552" y="3913632"/>
            <a:ext cx="566928" cy="566928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flood_ppt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922" y="3993002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77072" y="39136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monsoon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845552" y="45262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traffic paralysis, property damage and loss of life — hitting low-lying homes and the Outer Ring Road tech corridor hardest.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571232" y="5715000"/>
            <a:ext cx="3977640" cy="685800"/>
          </a:xfrm>
          <a:prstGeom prst="roundRect">
            <a:avLst>
              <a:gd name="adj" fmla="val 13333"/>
            </a:avLst>
          </a:prstGeom>
          <a:solidFill>
            <a:srgbClr val="177E89">
              <a:alpha val="1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7799832" y="57150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084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to predict already exists. The prediction layer does not.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flood risk at ward/locality level from rainfall, historical incidents and drainage/terrain data — and deliver it as plain-language lead time, not after-the-fact alerts.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flood_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12049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0756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Layer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260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estimates flood likelihood &amp; severity per ward/locality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rainfall intensity, historical flood incidents, drainage &amp; terrain features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risk score plus an estimated time window before critical levels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75120" y="2011680"/>
            <a:ext cx="777240" cy="77724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flood_ppt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12049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20756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9260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visualising ward-level risk on a city map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conversational assistant for plain-language Q&amp;A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“Is my area at flood risk this week?” → synthesised answer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177E8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68680" y="5166360"/>
            <a:ext cx="411480" cy="411480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flood_ppt/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72" y="5219852"/>
            <a:ext cx="304495" cy="3044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502920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84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prediction &amp; early warning only — drain redesign and pumping capacity remain policy/engineering interventions outside this project.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feeds to a plain-language warning, in five stages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56916" y="2500884"/>
            <a:ext cx="201168" cy="164592"/>
          </a:xfrm>
          <a:prstGeom prst="rightArrow">
            <a:avLst/>
          </a:prstGeom>
          <a:solidFill>
            <a:srgbClr val="5FA8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44168" y="2148840"/>
            <a:ext cx="868680" cy="868680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flood_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2279142"/>
            <a:ext cx="608076" cy="6080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" y="318211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Ingestion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0372" y="3584448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8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KSNDMC rainfall &amp; drain water-level feeds, BBMP flood-zone records, and terrain/drainage GIS data.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914900" y="2500884"/>
            <a:ext cx="201168" cy="164592"/>
          </a:xfrm>
          <a:prstGeom prst="rightArrow">
            <a:avLst/>
          </a:prstGeom>
          <a:solidFill>
            <a:srgbClr val="5FA8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502152" y="2148840"/>
            <a:ext cx="868680" cy="868680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flood_ppt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454" y="2279142"/>
            <a:ext cx="608076" cy="6080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2636" y="318211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Feature Engineering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848356" y="3584448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8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rainfall-intensity trends, a drainage-capacity index, terrain slope, and per-ward historical incident frequency.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072884" y="2500884"/>
            <a:ext cx="201168" cy="164592"/>
          </a:xfrm>
          <a:prstGeom prst="rightArrow">
            <a:avLst/>
          </a:prstGeom>
          <a:solidFill>
            <a:srgbClr val="5FA8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660136" y="2148840"/>
            <a:ext cx="868680" cy="868680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flood_ppt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438" y="2279142"/>
            <a:ext cx="608076" cy="6080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60620" y="318211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Prediction Model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006340" y="3584448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8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flood likelihood &amp; severity per ward, with an estimated lead-time window.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230868" y="2500884"/>
            <a:ext cx="201168" cy="164592"/>
          </a:xfrm>
          <a:prstGeom prst="rightArrow">
            <a:avLst/>
          </a:prstGeom>
          <a:solidFill>
            <a:srgbClr val="5FA8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818120" y="2148840"/>
            <a:ext cx="868680" cy="868680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flood_ppt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422" y="2279142"/>
            <a:ext cx="608076" cy="6080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8604" y="318211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Risk Classification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164324" y="3584448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8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bucketed Low / Medium / High / Severe; threshold crossings trigger alert generation.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976104" y="2148840"/>
            <a:ext cx="868680" cy="868680"/>
          </a:xfrm>
          <a:prstGeom prst="ellipse">
            <a:avLst/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flood_ppt/icons/broadca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6406" y="2279142"/>
            <a:ext cx="608076" cy="6080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6588" y="318211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Delivery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9322308" y="3584448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8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the dashboard and GenAI assistant for citizens and civic authorities alike.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640080" y="5989320"/>
            <a:ext cx="10908792" cy="548640"/>
          </a:xfrm>
          <a:prstGeom prst="roundRect">
            <a:avLst>
              <a:gd name="adj" fmla="val 15000"/>
            </a:avLst>
          </a:prstGeom>
          <a:solidFill>
            <a:srgbClr val="084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 txBox="1"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data BBMP &amp; KSNDMC already collect — no new hardware required to get started.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the predictive layer, the interface, and everything in between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" y="1837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flood_ppt/icons/cloud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84" y="1930116"/>
            <a:ext cx="474025" cy="4740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587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935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KSNDMC rainfall &amp; drain-sensor feeds, BBMP flood-zone records, IMD weather data, GIS terrain layers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024" y="1600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39056" y="1837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flood_ppt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228" y="1930116"/>
            <a:ext cx="474025" cy="4740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9056" y="2587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Modeling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39056" y="2935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 / XGBoost for risk scoring, time-series forecasting (Prophet / LSTM) for rainfall trends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5968" y="1600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82000" y="1837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flood_ppt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172" y="1930116"/>
            <a:ext cx="474025" cy="4740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587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2935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conversational layer for natural-language, plain-language citizen &amp; authority queries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96112" y="4123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flood_ppt/icons/tab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284" y="4216116"/>
            <a:ext cx="474025" cy="4740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" y="4873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Maps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5221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front-end with map-based visualisation (Leaflet / Mapbox) of live ward-level risk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024" y="3886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39056" y="4123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flood_ppt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228" y="4216116"/>
            <a:ext cx="474025" cy="4740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39056" y="4873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Store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639056" y="5221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cloud hosting, PostgreSQL + PostGIS for geospatial queries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5968" y="3886200"/>
            <a:ext cx="3422904" cy="1965960"/>
          </a:xfrm>
          <a:prstGeom prst="roundRect">
            <a:avLst>
              <a:gd name="adj" fmla="val 4651"/>
            </a:avLst>
          </a:prstGeom>
          <a:solidFill>
            <a:srgbClr val="084C61">
              <a:alpha val="85000"/>
            </a:srgbClr>
          </a:solidFill>
          <a:ln w="12700">
            <a:solidFill>
              <a:srgbClr val="177E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82000" y="4123944"/>
            <a:ext cx="658368" cy="658368"/>
          </a:xfrm>
          <a:prstGeom prst="ellipse">
            <a:avLst/>
          </a:prstGeom>
          <a:solidFill>
            <a:srgbClr val="177E8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flood_ppt/icon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4172" y="4216116"/>
            <a:ext cx="474025" cy="4740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2000" y="4873752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Delivery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82000" y="5221224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Threshold-triggered push/SMS notifications (Firebase / Twilio) for early warnings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608</Words>
  <Application>Microsoft Office PowerPoint</Application>
  <PresentationFormat>Widescreen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piyushtandale1@gmail.com</cp:lastModifiedBy>
  <cp:revision>2</cp:revision>
  <dcterms:created xsi:type="dcterms:W3CDTF">2026-09-02T09:03:01Z</dcterms:created>
  <dcterms:modified xsi:type="dcterms:W3CDTF">2026-09-02T09:19:01Z</dcterms:modified>
</cp:coreProperties>
</file>